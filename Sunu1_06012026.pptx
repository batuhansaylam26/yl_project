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26"/>
  </p:normalViewPr>
  <p:slideViewPr>
    <p:cSldViewPr snapToGrid="0">
      <p:cViewPr varScale="1">
        <p:scale>
          <a:sx n="121" d="100"/>
          <a:sy n="121" d="100"/>
        </p:scale>
        <p:origin x="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4DDBD-C1CF-F242-896F-6F5F51A871A6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9A722-3281-0847-8BCD-A56363BDF9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53869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9A722-3281-0847-8BCD-A56363BDF975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5826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030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052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71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992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806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99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897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285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408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98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459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DA46E5-A5DD-3042-93DC-97FF61611694}" type="datetimeFigureOut">
              <a:rPr lang="tr-TR" smtClean="0"/>
              <a:t>9.01.2026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CC4A9E2-A2B5-8241-BB6F-F89ABCAB854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800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64D67E-52B1-A216-D2E4-557C180F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SUMMARY: UCB-</a:t>
            </a:r>
            <a:r>
              <a:rPr lang="tr-T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tr-T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tr-T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352C24-65A7-D9E0-7C3D-3B41B3023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OBJECTIVE:</a:t>
            </a:r>
          </a:p>
          <a:p>
            <a:pPr lvl="1"/>
            <a:r>
              <a:rPr lang="tr-TR" b="1" dirty="0" err="1"/>
              <a:t>Automatic</a:t>
            </a:r>
            <a:r>
              <a:rPr lang="tr-TR" b="1" dirty="0"/>
              <a:t> </a:t>
            </a:r>
            <a:r>
              <a:rPr lang="tr-TR" b="1" dirty="0" err="1"/>
              <a:t>selection</a:t>
            </a:r>
            <a:r>
              <a:rPr lang="tr-TR" b="1" dirty="0"/>
              <a:t> of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best</a:t>
            </a:r>
            <a:r>
              <a:rPr lang="tr-TR" b="1" dirty="0"/>
              <a:t> </a:t>
            </a:r>
            <a:r>
              <a:rPr lang="tr-TR" b="1" dirty="0" err="1"/>
              <a:t>neural</a:t>
            </a:r>
            <a:r>
              <a:rPr lang="tr-TR" b="1" dirty="0"/>
              <a:t> </a:t>
            </a:r>
            <a:r>
              <a:rPr lang="tr-TR" b="1" dirty="0" err="1"/>
              <a:t>forecasting</a:t>
            </a:r>
            <a:r>
              <a:rPr lang="tr-TR" b="1" dirty="0"/>
              <a:t> model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chaotic</a:t>
            </a:r>
            <a:r>
              <a:rPr lang="tr-TR" dirty="0"/>
              <a:t> time </a:t>
            </a:r>
            <a:r>
              <a:rPr lang="tr-TR" dirty="0" err="1"/>
              <a:t>series</a:t>
            </a:r>
            <a:r>
              <a:rPr lang="tr-TR" dirty="0"/>
              <a:t> (</a:t>
            </a:r>
            <a:r>
              <a:rPr lang="tr-TR" dirty="0" err="1"/>
              <a:t>Lorenze</a:t>
            </a:r>
            <a:r>
              <a:rPr lang="tr-TR" dirty="0"/>
              <a:t>)</a:t>
            </a:r>
          </a:p>
          <a:p>
            <a:pPr lvl="1"/>
            <a:r>
              <a:rPr lang="tr-TR" b="1" dirty="0" err="1"/>
              <a:t>Dynamic</a:t>
            </a:r>
            <a:r>
              <a:rPr lang="tr-TR" b="1" dirty="0"/>
              <a:t> model </a:t>
            </a:r>
            <a:r>
              <a:rPr lang="tr-TR" b="1" dirty="0" err="1"/>
              <a:t>optimization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Reinforcement</a:t>
            </a:r>
            <a:r>
              <a:rPr lang="tr-TR" dirty="0"/>
              <a:t> Learning (UCB </a:t>
            </a:r>
            <a:r>
              <a:rPr lang="tr-TR" dirty="0" err="1"/>
              <a:t>algorithm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Comparison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</a:t>
            </a:r>
            <a:r>
              <a:rPr lang="tr-TR" dirty="0" err="1"/>
              <a:t>across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neural</a:t>
            </a:r>
            <a:r>
              <a:rPr lang="tr-TR" dirty="0"/>
              <a:t> </a:t>
            </a:r>
            <a:r>
              <a:rPr lang="tr-TR" dirty="0" err="1"/>
              <a:t>architectures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6214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9C0C8B-688E-7C54-0D91-DB87230C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tr-T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E0680F2-314F-4E28-A460-962A0DB1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Gymnasium</a:t>
            </a:r>
            <a:r>
              <a:rPr lang="tr-TR" b="1" dirty="0"/>
              <a:t> Environment</a:t>
            </a:r>
            <a:endParaRPr lang="tr-TR" dirty="0"/>
          </a:p>
          <a:p>
            <a:pPr lvl="1"/>
            <a:r>
              <a:rPr lang="tr-TR" dirty="0" err="1"/>
              <a:t>Custom</a:t>
            </a:r>
            <a:r>
              <a:rPr lang="tr-TR" dirty="0"/>
              <a:t> </a:t>
            </a:r>
            <a:r>
              <a:rPr lang="tr-TR" dirty="0" err="1"/>
              <a:t>OpenAI</a:t>
            </a:r>
            <a:r>
              <a:rPr lang="tr-TR" dirty="0"/>
              <a:t> </a:t>
            </a:r>
            <a:r>
              <a:rPr lang="tr-TR" dirty="0" err="1"/>
              <a:t>Gym</a:t>
            </a:r>
            <a:r>
              <a:rPr lang="tr-TR" dirty="0"/>
              <a:t> </a:t>
            </a:r>
            <a:r>
              <a:rPr lang="tr-TR" dirty="0" err="1"/>
              <a:t>environment</a:t>
            </a:r>
            <a:r>
              <a:rPr lang="tr-TR" dirty="0"/>
              <a:t> </a:t>
            </a:r>
            <a:r>
              <a:rPr lang="tr-TR" dirty="0" err="1"/>
              <a:t>design</a:t>
            </a:r>
            <a:endParaRPr lang="tr-TR" dirty="0"/>
          </a:p>
          <a:p>
            <a:pPr lvl="1"/>
            <a:r>
              <a:rPr lang="tr-TR" dirty="0" err="1"/>
              <a:t>State</a:t>
            </a:r>
            <a:r>
              <a:rPr lang="tr-TR" dirty="0"/>
              <a:t>: Best Model</a:t>
            </a:r>
          </a:p>
          <a:p>
            <a:pPr lvl="1"/>
            <a:r>
              <a:rPr lang="tr-TR" dirty="0"/>
              <a:t>Action: Model </a:t>
            </a:r>
            <a:r>
              <a:rPr lang="tr-TR" dirty="0" err="1"/>
              <a:t>selection</a:t>
            </a:r>
            <a:r>
              <a:rPr lang="tr-TR" dirty="0"/>
              <a:t> (</a:t>
            </a:r>
            <a:r>
              <a:rPr lang="tr-TR" dirty="0" err="1"/>
              <a:t>index</a:t>
            </a:r>
            <a:r>
              <a:rPr lang="tr-TR" dirty="0"/>
              <a:t> 0-4)</a:t>
            </a:r>
          </a:p>
          <a:p>
            <a:pPr lvl="1"/>
            <a:r>
              <a:rPr lang="tr-TR" dirty="0" err="1"/>
              <a:t>Reward</a:t>
            </a:r>
            <a:r>
              <a:rPr lang="tr-TR" dirty="0"/>
              <a:t>: 0.3 * (1/(1+ MSE)+ 0.7 * </a:t>
            </a:r>
            <a:r>
              <a:rPr lang="tr-TR" dirty="0" err="1"/>
              <a:t>max</a:t>
            </a:r>
            <a:r>
              <a:rPr lang="tr-TR" dirty="0"/>
              <a:t>(0,min(1,(R^2+1)/2))</a:t>
            </a:r>
          </a:p>
          <a:p>
            <a:pPr marL="457200" lvl="1" indent="0">
              <a:buNone/>
            </a:pP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04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2171E52-86A4-7D40-54A5-7F6907268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UCB (</a:t>
            </a:r>
            <a:r>
              <a:rPr lang="tr-TR" b="1" dirty="0" err="1"/>
              <a:t>Upper</a:t>
            </a:r>
            <a:r>
              <a:rPr lang="tr-TR" b="1" dirty="0"/>
              <a:t> </a:t>
            </a:r>
            <a:r>
              <a:rPr lang="tr-TR" b="1" dirty="0" err="1"/>
              <a:t>Confidence</a:t>
            </a:r>
            <a:r>
              <a:rPr lang="tr-TR" b="1" dirty="0"/>
              <a:t> </a:t>
            </a:r>
            <a:r>
              <a:rPr lang="tr-TR" b="1" dirty="0" err="1"/>
              <a:t>Bound</a:t>
            </a:r>
            <a:r>
              <a:rPr lang="tr-TR" b="1" dirty="0"/>
              <a:t>) Agent</a:t>
            </a:r>
            <a:endParaRPr lang="tr-TR" dirty="0"/>
          </a:p>
          <a:p>
            <a:pPr lvl="1"/>
            <a:r>
              <a:rPr lang="tr-TR" dirty="0" err="1"/>
              <a:t>Balances</a:t>
            </a:r>
            <a:r>
              <a:rPr lang="tr-TR" dirty="0"/>
              <a:t> </a:t>
            </a:r>
            <a:r>
              <a:rPr lang="tr-TR" dirty="0" err="1"/>
              <a:t>exploration-exploitation</a:t>
            </a:r>
            <a:r>
              <a:rPr lang="tr-TR" dirty="0"/>
              <a:t> </a:t>
            </a:r>
            <a:r>
              <a:rPr lang="tr-TR" dirty="0" err="1"/>
              <a:t>trade-off</a:t>
            </a:r>
            <a:endParaRPr lang="tr-TR" dirty="0"/>
          </a:p>
          <a:p>
            <a:pPr lvl="1"/>
            <a:r>
              <a:rPr lang="tr-TR" dirty="0" err="1"/>
              <a:t>Calculates</a:t>
            </a:r>
            <a:r>
              <a:rPr lang="tr-TR" dirty="0"/>
              <a:t> </a:t>
            </a:r>
            <a:r>
              <a:rPr lang="tr-TR" dirty="0" err="1"/>
              <a:t>confidence</a:t>
            </a:r>
            <a:r>
              <a:rPr lang="tr-TR" dirty="0"/>
              <a:t> </a:t>
            </a:r>
            <a:r>
              <a:rPr lang="tr-TR" dirty="0" err="1"/>
              <a:t>intervals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each</a:t>
            </a:r>
            <a:r>
              <a:rPr lang="tr-TR" dirty="0"/>
              <a:t> model</a:t>
            </a:r>
          </a:p>
          <a:p>
            <a:pPr lvl="1"/>
            <a:r>
              <a:rPr lang="tr-TR" dirty="0"/>
              <a:t>Formula: UCB = </a:t>
            </a:r>
            <a:r>
              <a:rPr lang="tr-TR" dirty="0" err="1"/>
              <a:t>mean_reward</a:t>
            </a:r>
            <a:r>
              <a:rPr lang="tr-TR" dirty="0"/>
              <a:t> + c * </a:t>
            </a:r>
            <a:r>
              <a:rPr lang="tr-TR" dirty="0" err="1"/>
              <a:t>sqrt</a:t>
            </a:r>
            <a:r>
              <a:rPr lang="tr-TR" dirty="0"/>
              <a:t>(</a:t>
            </a:r>
            <a:r>
              <a:rPr lang="tr-TR" dirty="0" err="1"/>
              <a:t>ln</a:t>
            </a:r>
            <a:r>
              <a:rPr lang="tr-TR" dirty="0"/>
              <a:t>(</a:t>
            </a:r>
            <a:r>
              <a:rPr lang="tr-TR" dirty="0" err="1"/>
              <a:t>total_steps</a:t>
            </a:r>
            <a:r>
              <a:rPr lang="tr-TR" dirty="0"/>
              <a:t>) / </a:t>
            </a:r>
            <a:r>
              <a:rPr lang="tr-TR" dirty="0" err="1"/>
              <a:t>model_selections</a:t>
            </a:r>
            <a:r>
              <a:rPr lang="tr-TR" dirty="0"/>
              <a:t>)</a:t>
            </a:r>
          </a:p>
          <a:p>
            <a:pPr lvl="1"/>
            <a:r>
              <a:rPr lang="tr-TR" dirty="0" err="1"/>
              <a:t>Provides</a:t>
            </a:r>
            <a:r>
              <a:rPr lang="tr-TR" dirty="0"/>
              <a:t> bonus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less-explored</a:t>
            </a:r>
            <a:r>
              <a:rPr lang="tr-TR" dirty="0"/>
              <a:t> </a:t>
            </a:r>
            <a:r>
              <a:rPr lang="tr-TR" dirty="0" err="1"/>
              <a:t>models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1950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CA2DEF-A28A-24C9-196B-48A8E2F07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Neural</a:t>
            </a:r>
            <a:r>
              <a:rPr lang="tr-TR" b="1" dirty="0"/>
              <a:t> </a:t>
            </a:r>
            <a:r>
              <a:rPr lang="tr-TR" b="1" dirty="0" err="1"/>
              <a:t>Forecasting</a:t>
            </a:r>
            <a:r>
              <a:rPr lang="tr-TR" b="1" dirty="0"/>
              <a:t> </a:t>
            </a:r>
            <a:r>
              <a:rPr lang="tr-TR" b="1" dirty="0" err="1"/>
              <a:t>Models</a:t>
            </a:r>
            <a:r>
              <a:rPr lang="tr-TR" b="1" dirty="0"/>
              <a:t> (NIXTLA)</a:t>
            </a:r>
            <a:endParaRPr lang="tr-TR" dirty="0"/>
          </a:p>
          <a:p>
            <a:pPr lvl="1"/>
            <a:r>
              <a:rPr lang="tr-TR" b="1" dirty="0" err="1"/>
              <a:t>TimesNet</a:t>
            </a:r>
            <a:r>
              <a:rPr lang="tr-TR" dirty="0"/>
              <a:t>: Multi-</a:t>
            </a:r>
            <a:r>
              <a:rPr lang="tr-TR" dirty="0" err="1"/>
              <a:t>period</a:t>
            </a:r>
            <a:r>
              <a:rPr lang="tr-TR" dirty="0"/>
              <a:t> temporal </a:t>
            </a:r>
            <a:r>
              <a:rPr lang="tr-TR" dirty="0" err="1"/>
              <a:t>patterns</a:t>
            </a:r>
            <a:endParaRPr lang="tr-TR" dirty="0"/>
          </a:p>
          <a:p>
            <a:pPr lvl="1"/>
            <a:r>
              <a:rPr lang="tr-TR" b="1" dirty="0" err="1"/>
              <a:t>VanillaTransformer</a:t>
            </a:r>
            <a:r>
              <a:rPr lang="tr-TR" dirty="0"/>
              <a:t>: </a:t>
            </a:r>
            <a:r>
              <a:rPr lang="tr-TR" dirty="0" err="1"/>
              <a:t>Attention</a:t>
            </a:r>
            <a:r>
              <a:rPr lang="tr-TR" dirty="0"/>
              <a:t> </a:t>
            </a:r>
            <a:r>
              <a:rPr lang="tr-TR" dirty="0" err="1"/>
              <a:t>mechanisms</a:t>
            </a:r>
            <a:endParaRPr lang="tr-TR" dirty="0"/>
          </a:p>
          <a:p>
            <a:pPr lvl="1"/>
            <a:r>
              <a:rPr lang="tr-TR" b="1" dirty="0"/>
              <a:t>GRU</a:t>
            </a:r>
            <a:r>
              <a:rPr lang="tr-TR" dirty="0"/>
              <a:t>: </a:t>
            </a:r>
            <a:r>
              <a:rPr lang="tr-TR" dirty="0" err="1"/>
              <a:t>Gated</a:t>
            </a:r>
            <a:r>
              <a:rPr lang="tr-TR" dirty="0"/>
              <a:t> </a:t>
            </a:r>
            <a:r>
              <a:rPr lang="tr-TR" dirty="0" err="1"/>
              <a:t>Recurrent</a:t>
            </a:r>
            <a:r>
              <a:rPr lang="tr-TR" dirty="0"/>
              <a:t> </a:t>
            </a:r>
            <a:r>
              <a:rPr lang="tr-TR" dirty="0" err="1"/>
              <a:t>Unit</a:t>
            </a:r>
            <a:endParaRPr lang="tr-TR" dirty="0"/>
          </a:p>
          <a:p>
            <a:pPr lvl="1"/>
            <a:r>
              <a:rPr lang="tr-TR" b="1" dirty="0"/>
              <a:t>LSTM</a:t>
            </a:r>
            <a:r>
              <a:rPr lang="tr-TR" dirty="0"/>
              <a:t>: </a:t>
            </a:r>
            <a:r>
              <a:rPr lang="tr-TR" dirty="0" err="1"/>
              <a:t>Long</a:t>
            </a:r>
            <a:r>
              <a:rPr lang="tr-TR" dirty="0"/>
              <a:t> </a:t>
            </a:r>
            <a:r>
              <a:rPr lang="tr-TR" dirty="0" err="1"/>
              <a:t>Short-Term</a:t>
            </a:r>
            <a:r>
              <a:rPr lang="tr-TR" dirty="0"/>
              <a:t> Memory</a:t>
            </a:r>
          </a:p>
          <a:p>
            <a:pPr lvl="1"/>
            <a:r>
              <a:rPr lang="tr-TR" b="1" dirty="0"/>
              <a:t>KAN</a:t>
            </a:r>
            <a:r>
              <a:rPr lang="tr-TR" dirty="0"/>
              <a:t>: Kolmogorov-Arnold Network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1636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C155670-A8F5-BBD7-2035-DE37A15A5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NeuralForecast</a:t>
            </a:r>
            <a:r>
              <a:rPr lang="tr-TR" b="1" dirty="0"/>
              <a:t> Auto </a:t>
            </a:r>
            <a:r>
              <a:rPr lang="tr-TR" b="1" dirty="0" err="1"/>
              <a:t>Configuration</a:t>
            </a:r>
            <a:endParaRPr lang="tr-TR" dirty="0"/>
          </a:p>
          <a:p>
            <a:pPr lvl="1"/>
            <a:r>
              <a:rPr lang="tr-TR" dirty="0" err="1"/>
              <a:t>Hyperparameter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Ray </a:t>
            </a:r>
            <a:r>
              <a:rPr lang="tr-TR" dirty="0" err="1"/>
              <a:t>Tune</a:t>
            </a:r>
            <a:endParaRPr lang="tr-TR" dirty="0"/>
          </a:p>
          <a:p>
            <a:pPr lvl="1"/>
            <a:r>
              <a:rPr lang="tr-TR" dirty="0" err="1"/>
              <a:t>Search</a:t>
            </a:r>
            <a:r>
              <a:rPr lang="tr-TR" dirty="0"/>
              <a:t> </a:t>
            </a:r>
            <a:r>
              <a:rPr lang="tr-TR" dirty="0" err="1"/>
              <a:t>Algorithm</a:t>
            </a:r>
            <a:r>
              <a:rPr lang="tr-TR" dirty="0"/>
              <a:t>: </a:t>
            </a:r>
            <a:r>
              <a:rPr lang="tr-TR" dirty="0" err="1"/>
              <a:t>BasicVariantGenerator</a:t>
            </a:r>
            <a:endParaRPr lang="tr-TR" dirty="0"/>
          </a:p>
          <a:p>
            <a:pPr lvl="1"/>
            <a:r>
              <a:rPr lang="tr-TR" dirty="0" err="1"/>
              <a:t>Scheduler</a:t>
            </a:r>
            <a:r>
              <a:rPr lang="tr-TR" dirty="0"/>
              <a:t>: </a:t>
            </a:r>
            <a:r>
              <a:rPr lang="tr-TR" dirty="0" err="1"/>
              <a:t>FIFOScheduler</a:t>
            </a:r>
            <a:endParaRPr lang="tr-TR" dirty="0"/>
          </a:p>
          <a:p>
            <a:pPr lvl="1"/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Trials</a:t>
            </a:r>
            <a:r>
              <a:rPr lang="tr-TR" dirty="0"/>
              <a:t>: 10</a:t>
            </a:r>
          </a:p>
        </p:txBody>
      </p:sp>
    </p:spTree>
    <p:extLst>
      <p:ext uri="{BB962C8B-B14F-4D97-AF65-F5344CB8AC3E}">
        <p14:creationId xmlns:p14="http://schemas.microsoft.com/office/powerpoint/2010/main" val="3312734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104448-1418-DECA-A127-9680B77AF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Training </a:t>
            </a:r>
            <a:r>
              <a:rPr lang="tr-TR" b="1" dirty="0" err="1"/>
              <a:t>Infrastructure</a:t>
            </a:r>
            <a:endParaRPr lang="tr-TR" dirty="0"/>
          </a:p>
          <a:p>
            <a:pPr lvl="1"/>
            <a:r>
              <a:rPr lang="tr-TR" dirty="0" err="1"/>
              <a:t>PyTorch</a:t>
            </a:r>
            <a:r>
              <a:rPr lang="tr-TR" dirty="0"/>
              <a:t> </a:t>
            </a:r>
            <a:r>
              <a:rPr lang="tr-TR" dirty="0" err="1"/>
              <a:t>Lightning</a:t>
            </a:r>
            <a:r>
              <a:rPr lang="tr-TR" dirty="0"/>
              <a:t> </a:t>
            </a:r>
            <a:r>
              <a:rPr lang="tr-TR" dirty="0" err="1"/>
              <a:t>callbacks</a:t>
            </a:r>
            <a:endParaRPr lang="tr-TR" dirty="0"/>
          </a:p>
          <a:p>
            <a:pPr lvl="1"/>
            <a:r>
              <a:rPr lang="tr-TR" dirty="0" err="1"/>
              <a:t>Early</a:t>
            </a:r>
            <a:r>
              <a:rPr lang="tr-TR" dirty="0"/>
              <a:t> </a:t>
            </a:r>
            <a:r>
              <a:rPr lang="tr-TR" dirty="0" err="1"/>
              <a:t>stopping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validation</a:t>
            </a:r>
            <a:r>
              <a:rPr lang="tr-TR" dirty="0"/>
              <a:t> </a:t>
            </a:r>
            <a:r>
              <a:rPr lang="tr-TR" dirty="0" err="1"/>
              <a:t>monitoring</a:t>
            </a:r>
            <a:endParaRPr lang="tr-TR" dirty="0"/>
          </a:p>
          <a:p>
            <a:pPr lvl="1"/>
            <a:r>
              <a:rPr lang="tr-TR" dirty="0"/>
              <a:t>Model-</a:t>
            </a:r>
            <a:r>
              <a:rPr lang="tr-TR" dirty="0" err="1"/>
              <a:t>specific</a:t>
            </a:r>
            <a:r>
              <a:rPr lang="tr-TR" dirty="0"/>
              <a:t> </a:t>
            </a:r>
            <a:r>
              <a:rPr lang="tr-TR" dirty="0" err="1"/>
              <a:t>logging</a:t>
            </a:r>
            <a:r>
              <a:rPr lang="tr-TR" dirty="0"/>
              <a:t> </a:t>
            </a:r>
            <a:r>
              <a:rPr lang="tr-TR" dirty="0" err="1"/>
              <a:t>directories</a:t>
            </a:r>
            <a:endParaRPr lang="tr-TR" dirty="0"/>
          </a:p>
          <a:p>
            <a:pPr lvl="1"/>
            <a:r>
              <a:rPr lang="tr-TR" dirty="0" err="1"/>
              <a:t>Checkpoint</a:t>
            </a:r>
            <a:r>
              <a:rPr lang="tr-TR" dirty="0"/>
              <a:t> </a:t>
            </a:r>
            <a:r>
              <a:rPr lang="tr-TR" dirty="0" err="1"/>
              <a:t>saving</a:t>
            </a:r>
            <a:r>
              <a:rPr lang="tr-TR" dirty="0"/>
              <a:t> </a:t>
            </a:r>
            <a:r>
              <a:rPr lang="tr-TR" dirty="0" err="1"/>
              <a:t>per</a:t>
            </a:r>
            <a:r>
              <a:rPr lang="tr-TR" dirty="0"/>
              <a:t> model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having</a:t>
            </a:r>
            <a:r>
              <a:rPr lang="tr-TR" dirty="0"/>
              <a:t> </a:t>
            </a:r>
            <a:r>
              <a:rPr lang="tr-TR" dirty="0" err="1"/>
              <a:t>best</a:t>
            </a:r>
            <a:r>
              <a:rPr lang="tr-TR" dirty="0"/>
              <a:t> </a:t>
            </a:r>
            <a:r>
              <a:rPr lang="tr-TR" dirty="0" err="1"/>
              <a:t>performance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02223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96CC4A-44B1-296A-C81D-A493E54D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Data </a:t>
            </a:r>
            <a:r>
              <a:rPr lang="tr-TR" b="1" dirty="0" err="1"/>
              <a:t>Pipeline</a:t>
            </a:r>
            <a:endParaRPr lang="tr-TR" dirty="0"/>
          </a:p>
          <a:p>
            <a:pPr lvl="1"/>
            <a:r>
              <a:rPr lang="tr-TR" dirty="0" err="1"/>
              <a:t>Lorenze</a:t>
            </a:r>
            <a:r>
              <a:rPr lang="tr-TR" dirty="0"/>
              <a:t> </a:t>
            </a:r>
            <a:r>
              <a:rPr lang="tr-TR" dirty="0" err="1"/>
              <a:t>attractor</a:t>
            </a:r>
            <a:r>
              <a:rPr lang="tr-TR" dirty="0"/>
              <a:t> time </a:t>
            </a:r>
            <a:r>
              <a:rPr lang="tr-TR" dirty="0" err="1"/>
              <a:t>series</a:t>
            </a:r>
            <a:r>
              <a:rPr lang="tr-TR" dirty="0"/>
              <a:t> </a:t>
            </a:r>
            <a:r>
              <a:rPr lang="tr-TR" dirty="0" err="1"/>
              <a:t>generation</a:t>
            </a:r>
            <a:endParaRPr lang="tr-TR" dirty="0"/>
          </a:p>
          <a:p>
            <a:pPr lvl="1"/>
            <a:r>
              <a:rPr lang="tr-TR" dirty="0"/>
              <a:t>Train-test </a:t>
            </a:r>
            <a:r>
              <a:rPr lang="tr-TR" dirty="0" err="1"/>
              <a:t>splits</a:t>
            </a:r>
            <a:endParaRPr lang="tr-TR" dirty="0"/>
          </a:p>
          <a:p>
            <a:pPr lvl="1"/>
            <a:r>
              <a:rPr lang="tr-TR" dirty="0" err="1"/>
              <a:t>Exogenous</a:t>
            </a:r>
            <a:r>
              <a:rPr lang="tr-TR" dirty="0"/>
              <a:t> </a:t>
            </a:r>
            <a:r>
              <a:rPr lang="tr-TR" dirty="0" err="1"/>
              <a:t>variables</a:t>
            </a:r>
            <a:r>
              <a:rPr lang="tr-TR" dirty="0"/>
              <a:t> </a:t>
            </a:r>
            <a:r>
              <a:rPr lang="tr-TR" dirty="0" err="1"/>
              <a:t>support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9911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A84FB2-EF8F-9ECE-ADED-A29FD604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C434E1-3E8A-06B8-1DB8-AB5AB7A5A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Episode</a:t>
            </a:r>
            <a:r>
              <a:rPr lang="tr-TR" dirty="0"/>
              <a:t> </a:t>
            </a:r>
            <a:r>
              <a:rPr lang="tr-TR" dirty="0" err="1"/>
              <a:t>Flow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1. Agent </a:t>
            </a:r>
            <a:r>
              <a:rPr lang="tr-TR" dirty="0" err="1"/>
              <a:t>observes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(time </a:t>
            </a:r>
            <a:r>
              <a:rPr lang="tr-TR" dirty="0" err="1"/>
              <a:t>series</a:t>
            </a:r>
            <a:r>
              <a:rPr lang="tr-TR" dirty="0"/>
              <a:t> </a:t>
            </a:r>
            <a:r>
              <a:rPr lang="tr-TR" dirty="0" err="1"/>
              <a:t>features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2. </a:t>
            </a:r>
            <a:r>
              <a:rPr lang="tr-TR" dirty="0" err="1"/>
              <a:t>Selects</a:t>
            </a:r>
            <a:r>
              <a:rPr lang="tr-TR" dirty="0"/>
              <a:t> model </a:t>
            </a:r>
            <a:r>
              <a:rPr lang="tr-TR" dirty="0" err="1"/>
              <a:t>using</a:t>
            </a:r>
            <a:r>
              <a:rPr lang="tr-TR" dirty="0"/>
              <a:t> UCB (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exploration</a:t>
            </a:r>
            <a:r>
              <a:rPr lang="tr-TR" dirty="0"/>
              <a:t> bonus)</a:t>
            </a:r>
          </a:p>
          <a:p>
            <a:pPr lvl="1"/>
            <a:r>
              <a:rPr lang="tr-TR" dirty="0"/>
              <a:t>3. </a:t>
            </a:r>
            <a:r>
              <a:rPr lang="tr-TR" dirty="0" err="1"/>
              <a:t>Selected</a:t>
            </a:r>
            <a:r>
              <a:rPr lang="tr-TR" dirty="0"/>
              <a:t> model is </a:t>
            </a:r>
            <a:r>
              <a:rPr lang="tr-TR" dirty="0" err="1"/>
              <a:t>trained</a:t>
            </a:r>
            <a:r>
              <a:rPr lang="tr-TR" dirty="0"/>
              <a:t> (Ray </a:t>
            </a:r>
            <a:r>
              <a:rPr lang="tr-TR" dirty="0" err="1"/>
              <a:t>Tune</a:t>
            </a:r>
            <a:r>
              <a:rPr lang="tr-TR" dirty="0"/>
              <a:t> + </a:t>
            </a:r>
            <a:r>
              <a:rPr lang="tr-TR" dirty="0" err="1"/>
              <a:t>Early</a:t>
            </a:r>
            <a:r>
              <a:rPr lang="tr-TR" dirty="0"/>
              <a:t> </a:t>
            </a:r>
            <a:r>
              <a:rPr lang="tr-TR" dirty="0" err="1"/>
              <a:t>Stopping</a:t>
            </a:r>
            <a:r>
              <a:rPr lang="tr-TR" dirty="0"/>
              <a:t>)</a:t>
            </a:r>
          </a:p>
          <a:p>
            <a:pPr lvl="1"/>
            <a:r>
              <a:rPr lang="tr-TR" dirty="0"/>
              <a:t>4. Test MSE </a:t>
            </a:r>
            <a:r>
              <a:rPr lang="tr-TR" dirty="0" err="1"/>
              <a:t>and</a:t>
            </a:r>
            <a:r>
              <a:rPr lang="tr-TR" dirty="0"/>
              <a:t> R^2 is </a:t>
            </a:r>
            <a:r>
              <a:rPr lang="tr-TR" dirty="0" err="1"/>
              <a:t>measured</a:t>
            </a:r>
            <a:endParaRPr lang="tr-TR" dirty="0"/>
          </a:p>
          <a:p>
            <a:pPr lvl="1"/>
            <a:r>
              <a:rPr lang="tr-TR" dirty="0"/>
              <a:t>5. </a:t>
            </a:r>
            <a:r>
              <a:rPr lang="tr-TR" dirty="0" err="1"/>
              <a:t>Reward</a:t>
            </a:r>
            <a:r>
              <a:rPr lang="tr-TR" dirty="0"/>
              <a:t> = 0.3 * (1/(1+ MSE)+ 0.7 * </a:t>
            </a:r>
            <a:r>
              <a:rPr lang="tr-TR" dirty="0" err="1"/>
              <a:t>max</a:t>
            </a:r>
            <a:r>
              <a:rPr lang="tr-TR" dirty="0"/>
              <a:t>(0,min(1,(R^2+1)/2))</a:t>
            </a:r>
          </a:p>
          <a:p>
            <a:pPr lvl="1"/>
            <a:r>
              <a:rPr lang="tr-TR" dirty="0"/>
              <a:t>6. Agent </a:t>
            </a:r>
            <a:r>
              <a:rPr lang="tr-TR" dirty="0" err="1"/>
              <a:t>updates</a:t>
            </a:r>
            <a:r>
              <a:rPr lang="tr-TR" dirty="0"/>
              <a:t> UCB </a:t>
            </a:r>
            <a:r>
              <a:rPr lang="tr-TR" dirty="0" err="1"/>
              <a:t>values</a:t>
            </a:r>
            <a:endParaRPr lang="tr-TR" dirty="0"/>
          </a:p>
          <a:p>
            <a:pPr lvl="1"/>
            <a:r>
              <a:rPr lang="tr-TR" dirty="0"/>
              <a:t>7. Best model is </a:t>
            </a:r>
            <a:r>
              <a:rPr lang="tr-TR" dirty="0" err="1"/>
              <a:t>saved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39335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CD7BD05-9483-0214-2D7D-CB2A1A8DA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Learning </a:t>
            </a:r>
            <a:r>
              <a:rPr lang="tr-TR" b="1" dirty="0" err="1"/>
              <a:t>Process</a:t>
            </a:r>
            <a:r>
              <a:rPr lang="tr-TR" b="1" dirty="0"/>
              <a:t>:</a:t>
            </a:r>
            <a:endParaRPr lang="tr-TR" dirty="0"/>
          </a:p>
          <a:p>
            <a:pPr lvl="1"/>
            <a:r>
              <a:rPr lang="tr-TR" dirty="0" err="1"/>
              <a:t>Early</a:t>
            </a:r>
            <a:r>
              <a:rPr lang="tr-TR" dirty="0"/>
              <a:t> </a:t>
            </a:r>
            <a:r>
              <a:rPr lang="tr-TR" dirty="0" err="1"/>
              <a:t>episodes</a:t>
            </a:r>
            <a:r>
              <a:rPr lang="tr-TR" dirty="0"/>
              <a:t>: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models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explored</a:t>
            </a:r>
            <a:endParaRPr lang="tr-TR" dirty="0"/>
          </a:p>
          <a:p>
            <a:pPr lvl="1"/>
            <a:r>
              <a:rPr lang="tr-TR" dirty="0" err="1"/>
              <a:t>Later</a:t>
            </a:r>
            <a:r>
              <a:rPr lang="tr-TR" dirty="0"/>
              <a:t> </a:t>
            </a:r>
            <a:r>
              <a:rPr lang="tr-TR" dirty="0" err="1"/>
              <a:t>episodes</a:t>
            </a:r>
            <a:r>
              <a:rPr lang="tr-TR" dirty="0"/>
              <a:t>: </a:t>
            </a:r>
            <a:r>
              <a:rPr lang="tr-TR" dirty="0" err="1"/>
              <a:t>Focus</a:t>
            </a:r>
            <a:r>
              <a:rPr lang="tr-TR" dirty="0"/>
              <a:t> on </a:t>
            </a:r>
            <a:r>
              <a:rPr lang="tr-TR" dirty="0" err="1"/>
              <a:t>best-performing</a:t>
            </a:r>
            <a:r>
              <a:rPr lang="tr-TR" dirty="0"/>
              <a:t> </a:t>
            </a:r>
            <a:r>
              <a:rPr lang="tr-TR" dirty="0" err="1"/>
              <a:t>models</a:t>
            </a:r>
            <a:endParaRPr lang="tr-TR" dirty="0"/>
          </a:p>
          <a:p>
            <a:pPr lvl="1"/>
            <a:r>
              <a:rPr lang="tr-TR" dirty="0"/>
              <a:t>UCB </a:t>
            </a:r>
            <a:r>
              <a:rPr lang="tr-TR" dirty="0" err="1"/>
              <a:t>ensures</a:t>
            </a:r>
            <a:r>
              <a:rPr lang="tr-TR" dirty="0"/>
              <a:t> </a:t>
            </a:r>
            <a:r>
              <a:rPr lang="tr-TR" dirty="0" err="1"/>
              <a:t>occasional</a:t>
            </a:r>
            <a:r>
              <a:rPr lang="tr-TR" dirty="0"/>
              <a:t> </a:t>
            </a:r>
            <a:r>
              <a:rPr lang="tr-TR" dirty="0" err="1"/>
              <a:t>testing</a:t>
            </a:r>
            <a:r>
              <a:rPr lang="tr-TR" dirty="0"/>
              <a:t> of </a:t>
            </a:r>
            <a:r>
              <a:rPr lang="tr-TR" dirty="0" err="1"/>
              <a:t>alternative</a:t>
            </a:r>
            <a:r>
              <a:rPr lang="tr-TR" dirty="0"/>
              <a:t> </a:t>
            </a:r>
            <a:r>
              <a:rPr lang="tr-TR" dirty="0" err="1"/>
              <a:t>models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6817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9E2D04C-0B8F-6924-A43D-8A4FA037F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PRELIMINARY OBSERVATIONS</a:t>
            </a:r>
          </a:p>
          <a:p>
            <a:pPr lvl="1"/>
            <a:r>
              <a:rPr lang="tr-TR" b="1" dirty="0"/>
              <a:t>Training </a:t>
            </a:r>
            <a:r>
              <a:rPr lang="tr-TR" b="1" dirty="0" err="1"/>
              <a:t>Performance</a:t>
            </a:r>
            <a:r>
              <a:rPr lang="tr-TR" b="1" dirty="0"/>
              <a:t>:</a:t>
            </a:r>
          </a:p>
          <a:p>
            <a:pPr lvl="1"/>
            <a:endParaRPr lang="tr-TR" dirty="0"/>
          </a:p>
          <a:p>
            <a:pPr lvl="2"/>
            <a:r>
              <a:rPr lang="tr-TR" b="1" dirty="0" err="1"/>
              <a:t>VanillaTransformer</a:t>
            </a:r>
            <a:r>
              <a:rPr lang="tr-TR" dirty="0"/>
              <a:t>: Training </a:t>
            </a:r>
            <a:r>
              <a:rPr lang="tr-TR" dirty="0" err="1"/>
              <a:t>steps</a:t>
            </a:r>
            <a:r>
              <a:rPr lang="tr-TR" dirty="0"/>
              <a:t> </a:t>
            </a:r>
            <a:r>
              <a:rPr lang="tr-TR" dirty="0" err="1"/>
              <a:t>take</a:t>
            </a:r>
            <a:r>
              <a:rPr lang="tr-TR" dirty="0"/>
              <a:t> </a:t>
            </a:r>
            <a:r>
              <a:rPr lang="tr-TR" dirty="0" err="1"/>
              <a:t>considerably</a:t>
            </a:r>
            <a:r>
              <a:rPr lang="tr-TR" dirty="0"/>
              <a:t> </a:t>
            </a:r>
            <a:r>
              <a:rPr lang="tr-TR" dirty="0" err="1"/>
              <a:t>longer</a:t>
            </a:r>
            <a:r>
              <a:rPr lang="tr-TR" dirty="0"/>
              <a:t> time</a:t>
            </a:r>
          </a:p>
          <a:p>
            <a:pPr lvl="2"/>
            <a:r>
              <a:rPr lang="tr-TR" b="1" dirty="0" err="1"/>
              <a:t>TimesNet</a:t>
            </a:r>
            <a:r>
              <a:rPr lang="tr-TR" dirty="0"/>
              <a:t> (CNN-</a:t>
            </a:r>
            <a:r>
              <a:rPr lang="tr-TR" dirty="0" err="1"/>
              <a:t>based</a:t>
            </a:r>
            <a:r>
              <a:rPr lang="tr-TR" dirty="0"/>
              <a:t>): </a:t>
            </a:r>
            <a:r>
              <a:rPr lang="tr-TR" dirty="0" err="1"/>
              <a:t>Shows</a:t>
            </a:r>
            <a:r>
              <a:rPr lang="tr-TR" dirty="0"/>
              <a:t> </a:t>
            </a:r>
            <a:r>
              <a:rPr lang="tr-TR" dirty="0" err="1"/>
              <a:t>better</a:t>
            </a: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compared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other</a:t>
            </a:r>
            <a:r>
              <a:rPr lang="tr-TR" dirty="0"/>
              <a:t> </a:t>
            </a:r>
            <a:r>
              <a:rPr lang="tr-TR" dirty="0" err="1"/>
              <a:t>models</a:t>
            </a:r>
            <a:endParaRPr lang="tr-TR" dirty="0"/>
          </a:p>
          <a:p>
            <a:pPr lvl="2"/>
            <a:r>
              <a:rPr lang="tr-TR" dirty="0" err="1"/>
              <a:t>Initial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indicate</a:t>
            </a:r>
            <a:r>
              <a:rPr lang="tr-TR" dirty="0"/>
              <a:t> </a:t>
            </a:r>
            <a:r>
              <a:rPr lang="tr-TR" dirty="0" err="1"/>
              <a:t>architectural</a:t>
            </a:r>
            <a:r>
              <a:rPr lang="tr-TR" dirty="0"/>
              <a:t> </a:t>
            </a:r>
            <a:r>
              <a:rPr lang="tr-TR" dirty="0" err="1"/>
              <a:t>efficiency</a:t>
            </a:r>
            <a:r>
              <a:rPr lang="tr-TR" dirty="0"/>
              <a:t> </a:t>
            </a:r>
            <a:r>
              <a:rPr lang="tr-TR" dirty="0" err="1"/>
              <a:t>matters</a:t>
            </a:r>
            <a:r>
              <a:rPr lang="tr-TR" dirty="0"/>
              <a:t> </a:t>
            </a:r>
            <a:r>
              <a:rPr lang="tr-TR" dirty="0" err="1"/>
              <a:t>beyond</a:t>
            </a:r>
            <a:r>
              <a:rPr lang="tr-TR" dirty="0"/>
              <a:t> </a:t>
            </a:r>
            <a:r>
              <a:rPr lang="tr-TR" dirty="0" err="1"/>
              <a:t>just</a:t>
            </a:r>
            <a:r>
              <a:rPr lang="tr-TR" dirty="0"/>
              <a:t> </a:t>
            </a:r>
            <a:r>
              <a:rPr lang="tr-TR" dirty="0" err="1"/>
              <a:t>accuracy</a:t>
            </a:r>
            <a:endParaRPr lang="tr-TR" dirty="0"/>
          </a:p>
          <a:p>
            <a:pPr lvl="2"/>
            <a:endParaRPr lang="tr-TR" dirty="0"/>
          </a:p>
          <a:p>
            <a:pPr lvl="1"/>
            <a:r>
              <a:rPr lang="tr-TR" b="1" dirty="0" err="1"/>
              <a:t>Next</a:t>
            </a:r>
            <a:r>
              <a:rPr lang="tr-TR" b="1" dirty="0"/>
              <a:t> </a:t>
            </a:r>
            <a:r>
              <a:rPr lang="tr-TR" b="1" dirty="0" err="1"/>
              <a:t>Week's</a:t>
            </a:r>
            <a:r>
              <a:rPr lang="tr-TR" b="1" dirty="0"/>
              <a:t> </a:t>
            </a:r>
            <a:r>
              <a:rPr lang="tr-TR" b="1" dirty="0" err="1"/>
              <a:t>Roadmap</a:t>
            </a:r>
            <a:r>
              <a:rPr lang="tr-TR" b="1" dirty="0"/>
              <a:t>:</a:t>
            </a:r>
            <a:endParaRPr lang="tr-TR" dirty="0"/>
          </a:p>
          <a:p>
            <a:pPr lvl="2"/>
            <a:r>
              <a:rPr lang="tr-TR" dirty="0"/>
              <a:t>Complete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full</a:t>
            </a:r>
            <a:r>
              <a:rPr lang="tr-TR" dirty="0"/>
              <a:t> model </a:t>
            </a:r>
            <a:r>
              <a:rPr lang="tr-TR" dirty="0" err="1"/>
              <a:t>training</a:t>
            </a:r>
            <a:r>
              <a:rPr lang="tr-TR" dirty="0"/>
              <a:t> </a:t>
            </a:r>
            <a:r>
              <a:rPr lang="tr-TR" dirty="0" err="1"/>
              <a:t>process</a:t>
            </a:r>
            <a:endParaRPr lang="tr-TR" dirty="0"/>
          </a:p>
          <a:p>
            <a:pPr lvl="2"/>
            <a:r>
              <a:rPr lang="tr-TR" dirty="0"/>
              <a:t>Experiment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hyperparameter</a:t>
            </a:r>
            <a:r>
              <a:rPr lang="tr-TR" dirty="0"/>
              <a:t> </a:t>
            </a:r>
            <a:r>
              <a:rPr lang="tr-TR" dirty="0" err="1"/>
              <a:t>configurations</a:t>
            </a:r>
            <a:endParaRPr lang="tr-TR" dirty="0"/>
          </a:p>
          <a:p>
            <a:pPr lvl="2"/>
            <a:r>
              <a:rPr lang="tr-TR" dirty="0"/>
              <a:t>Test </a:t>
            </a:r>
            <a:r>
              <a:rPr lang="tr-TR" dirty="0" err="1"/>
              <a:t>alternative</a:t>
            </a:r>
            <a:r>
              <a:rPr lang="tr-TR" dirty="0"/>
              <a:t> </a:t>
            </a:r>
            <a:r>
              <a:rPr lang="tr-TR" dirty="0" err="1"/>
              <a:t>reinforcement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</a:t>
            </a:r>
            <a:r>
              <a:rPr lang="tr-TR" dirty="0" err="1"/>
              <a:t>algorithms</a:t>
            </a:r>
            <a:r>
              <a:rPr lang="tr-TR" dirty="0"/>
              <a:t> (PPO, DQN, Thompson </a:t>
            </a:r>
            <a:r>
              <a:rPr lang="tr-TR" dirty="0" err="1"/>
              <a:t>Sampling</a:t>
            </a:r>
            <a:r>
              <a:rPr lang="tr-TR" dirty="0"/>
              <a:t>)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2285099"/>
      </p:ext>
    </p:extLst>
  </p:cSld>
  <p:clrMapOvr>
    <a:masterClrMapping/>
  </p:clrMapOvr>
</p:sld>
</file>

<file path=ppt/theme/theme1.xml><?xml version="1.0" encoding="utf-8"?>
<a:theme xmlns:a="http://schemas.openxmlformats.org/drawingml/2006/main" name="Çerçeve">
  <a:themeElements>
    <a:clrScheme name="Çerçev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Çerçev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Çerçev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{FA921DD8-EF51-AB42-9A0B-BA4F055FE962}tf10001124</Template>
  <TotalTime>392</TotalTime>
  <Words>391</Words>
  <Application>Microsoft Macintosh PowerPoint</Application>
  <PresentationFormat>Geniş ekran</PresentationFormat>
  <Paragraphs>61</Paragraphs>
  <Slides>10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Calibri</vt:lpstr>
      <vt:lpstr>Corbel</vt:lpstr>
      <vt:lpstr>Times New Roman</vt:lpstr>
      <vt:lpstr>Wingdings 2</vt:lpstr>
      <vt:lpstr>Çerçeve</vt:lpstr>
      <vt:lpstr>PROJECT SUMMARY: UCB-Based Neural Model Selection</vt:lpstr>
      <vt:lpstr>SYSTEM ARCHITECTURE </vt:lpstr>
      <vt:lpstr>PowerPoint Sunusu</vt:lpstr>
      <vt:lpstr>PowerPoint Sunusu</vt:lpstr>
      <vt:lpstr>PowerPoint Sunusu</vt:lpstr>
      <vt:lpstr>PowerPoint Sunusu</vt:lpstr>
      <vt:lpstr>PowerPoint Sunusu</vt:lpstr>
      <vt:lpstr>WORKFLOW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Batuhan SAYLAM</dc:creator>
  <cp:lastModifiedBy>Batuhan SAYLAM</cp:lastModifiedBy>
  <cp:revision>12</cp:revision>
  <dcterms:created xsi:type="dcterms:W3CDTF">2026-01-06T00:21:24Z</dcterms:created>
  <dcterms:modified xsi:type="dcterms:W3CDTF">2026-01-08T21:48:39Z</dcterms:modified>
</cp:coreProperties>
</file>